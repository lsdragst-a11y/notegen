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6" d="100"/>
          <a:sy n="126" d="100"/>
        </p:scale>
        <p:origin x="96" y="33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2011680"/>
            <a:ext cx="109728" cy="2834640"/>
          </a:xfrm>
          <a:prstGeom prst="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19659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rgbClr val="CFD8E6"/>
                </a:solidFill>
                <a:latin typeface="Microsoft YaHei"/>
              </a:rPr>
              <a:t>课程结题展示</a:t>
            </a:r>
            <a:endParaRPr sz="1800" b="0" dirty="0">
              <a:solidFill>
                <a:srgbClr val="CFD8E6"/>
              </a:solidFill>
              <a:latin typeface="Microsoft YaHe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8680" y="2468880"/>
            <a:ext cx="109728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icrosoft YaHei"/>
              </a:rPr>
              <a:t>基于深度学习的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154680"/>
            <a:ext cx="109728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icrosoft YaHei"/>
              </a:rPr>
              <a:t>网课视频摘要与笔记生成系统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06908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CFD8E6"/>
                </a:solidFill>
                <a:latin typeface="Microsoft YaHei"/>
              </a:rPr>
              <a:t>从视频到结构化笔记的端到端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212080"/>
            <a:ext cx="109728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dirty="0" err="1">
                <a:solidFill>
                  <a:srgbClr val="FFFFFF"/>
                </a:solidFill>
                <a:latin typeface="Microsoft YaHei"/>
              </a:rPr>
              <a:t>汇报人</a:t>
            </a:r>
            <a:r>
              <a:rPr sz="1600" b="0" dirty="0">
                <a:solidFill>
                  <a:srgbClr val="FFFFFF"/>
                </a:solidFill>
                <a:latin typeface="Microsoft YaHei"/>
              </a:rPr>
              <a:t>：[</a:t>
            </a:r>
            <a:r>
              <a:rPr lang="zh-CN" altLang="en-US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王宇飞</a:t>
            </a:r>
            <a:r>
              <a:rPr sz="1600" b="0" dirty="0">
                <a:solidFill>
                  <a:srgbClr val="FFFFFF"/>
                </a:solidFill>
                <a:latin typeface="Microsoft YaHei"/>
              </a:rPr>
              <a:t>]    </a:t>
            </a:r>
            <a:r>
              <a:rPr sz="1600" b="0" dirty="0" err="1">
                <a:solidFill>
                  <a:srgbClr val="FFFFFF"/>
                </a:solidFill>
                <a:latin typeface="Microsoft YaHei"/>
              </a:rPr>
              <a:t>学号</a:t>
            </a:r>
            <a:r>
              <a:rPr sz="1600" b="0" dirty="0">
                <a:solidFill>
                  <a:srgbClr val="FFFFFF"/>
                </a:solidFill>
                <a:latin typeface="Microsoft YaHei"/>
              </a:rPr>
              <a:t>：[</a:t>
            </a:r>
            <a:r>
              <a:rPr lang="en-US" sz="1600" dirty="0">
                <a:solidFill>
                  <a:srgbClr val="FFFFFF"/>
                </a:solidFill>
                <a:latin typeface="Microsoft YaHei"/>
              </a:rPr>
              <a:t>202230531</a:t>
            </a:r>
            <a:r>
              <a:rPr sz="1600" b="0" dirty="0">
                <a:solidFill>
                  <a:srgbClr val="FFFFFF"/>
                </a:solidFill>
                <a:latin typeface="Microsoft YaHei"/>
              </a:rPr>
              <a:t>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623560"/>
            <a:ext cx="109728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dirty="0">
                <a:solidFill>
                  <a:srgbClr val="CFD8E6"/>
                </a:solidFill>
                <a:latin typeface="Microsoft YaHei"/>
              </a:rPr>
              <a:t>日期：2026-05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一、背景与动机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01168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0">
                <a:solidFill>
                  <a:srgbClr val="FFFFFF"/>
                </a:solidFill>
                <a:latin typeface="Microsoft YaHei"/>
              </a:rPr>
              <a:t>2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F3A68"/>
                </a:solidFill>
                <a:latin typeface="Microsoft YaHei"/>
              </a:rPr>
              <a:t>为什么要做这个系统？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09728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>
                <a:solidFill>
                  <a:srgbClr val="E87A2E"/>
                </a:solidFill>
                <a:latin typeface="Microsoft YaHei"/>
              </a:rPr>
              <a:t>● </a:t>
            </a:r>
            <a:r>
              <a:rPr sz="2000" b="1">
                <a:solidFill>
                  <a:srgbClr val="222222"/>
                </a:solidFill>
                <a:latin typeface="Microsoft YaHei"/>
              </a:rPr>
              <a:t>痛点 1：网课视频太长。</a:t>
            </a:r>
            <a:r>
              <a:rPr sz="1800">
                <a:solidFill>
                  <a:srgbClr val="666666"/>
                </a:solidFill>
                <a:latin typeface="Microsoft YaHei"/>
              </a:rPr>
              <a:t>  一节课动辄 1~2 小时，看完不可能再翻第二遍。</a:t>
            </a:r>
          </a:p>
          <a:p>
            <a:pPr algn="l">
              <a:lnSpc>
                <a:spcPct val="135000"/>
              </a:lnSpc>
            </a:pPr>
            <a:r>
              <a:rPr sz="2000">
                <a:solidFill>
                  <a:srgbClr val="E87A2E"/>
                </a:solidFill>
                <a:latin typeface="Microsoft YaHei"/>
              </a:rPr>
              <a:t>● </a:t>
            </a:r>
            <a:r>
              <a:rPr sz="2000" b="1">
                <a:solidFill>
                  <a:srgbClr val="222222"/>
                </a:solidFill>
                <a:latin typeface="Microsoft YaHei"/>
              </a:rPr>
              <a:t>痛点 2：现有自动笔记产出是一大坨文字。</a:t>
            </a:r>
            <a:r>
              <a:rPr sz="1800">
                <a:solidFill>
                  <a:srgbClr val="666666"/>
                </a:solidFill>
                <a:latin typeface="Microsoft YaHei"/>
              </a:rPr>
              <a:t>  没有章节、没有目录、没有重点，等于把字幕复制了一遍。</a:t>
            </a:r>
          </a:p>
          <a:p>
            <a:pPr algn="l">
              <a:lnSpc>
                <a:spcPct val="135000"/>
              </a:lnSpc>
            </a:pPr>
            <a:r>
              <a:rPr sz="2000">
                <a:solidFill>
                  <a:srgbClr val="E87A2E"/>
                </a:solidFill>
                <a:latin typeface="Microsoft YaHei"/>
              </a:rPr>
              <a:t>● </a:t>
            </a:r>
            <a:r>
              <a:rPr sz="2000" b="1">
                <a:solidFill>
                  <a:srgbClr val="222222"/>
                </a:solidFill>
                <a:latin typeface="Microsoft YaHei"/>
              </a:rPr>
              <a:t>痛点 3：通用模板套不同视频都一个样。</a:t>
            </a:r>
            <a:r>
              <a:rPr sz="1800">
                <a:solidFill>
                  <a:srgbClr val="666666"/>
                </a:solidFill>
                <a:latin typeface="Microsoft YaHei"/>
              </a:rPr>
              <a:t>  教学课和 Vlog 排版完全一样，看起来很突兀。</a:t>
            </a:r>
          </a:p>
          <a:p>
            <a:pPr algn="l">
              <a:lnSpc>
                <a:spcPct val="135000"/>
              </a:lnSpc>
            </a:pPr>
            <a:r>
              <a:rPr sz="2000">
                <a:solidFill>
                  <a:srgbClr val="E87A2E"/>
                </a:solidFill>
                <a:latin typeface="Microsoft YaHei"/>
              </a:rPr>
              <a:t>● </a:t>
            </a:r>
            <a:r>
              <a:rPr sz="2000" b="1">
                <a:solidFill>
                  <a:srgbClr val="222222"/>
                </a:solidFill>
                <a:latin typeface="Microsoft YaHei"/>
              </a:rPr>
              <a:t>目标：做一个能自动看完视频，并按学习场景排版的笔记工具。</a:t>
            </a:r>
            <a:r>
              <a:rPr sz="1800">
                <a:solidFill>
                  <a:srgbClr val="666666"/>
                </a:solidFill>
                <a:latin typeface="Microsoft YaHei"/>
              </a:rPr>
              <a:t>  输入一个 B 站链接，输出可阅读的结构化 Markdown 笔记。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Microsoft YaHei"/>
              </a:rPr>
              <a:t>网课视频笔记生成系统 · 课程结题展示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二、任务定义 与 系统总览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01168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0">
                <a:solidFill>
                  <a:srgbClr val="FFFFFF"/>
                </a:solidFill>
                <a:latin typeface="Microsoft YaHei"/>
              </a:rPr>
              <a:t>3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  <a:latin typeface="Microsoft YaHei"/>
              </a:rPr>
              <a:t>输入一个视频链接，输出一份结构化笔记 + 网页可视化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9427" y="2194560"/>
            <a:ext cx="1417320" cy="960120"/>
          </a:xfrm>
          <a:prstGeom prst="roundRect">
            <a:avLst/>
          </a:prstGeom>
          <a:solidFill>
            <a:srgbClr val="F4F6FA"/>
          </a:solidFill>
          <a:ln w="15240"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222222"/>
                </a:solidFill>
                <a:latin typeface="Microsoft YaHei"/>
              </a:rPr>
              <a:t>下载视频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866747" y="2578608"/>
            <a:ext cx="228600" cy="182880"/>
          </a:xfrm>
          <a:prstGeom prst="rightArrow">
            <a:avLst/>
          </a:prstGeom>
          <a:solidFill>
            <a:srgbClr val="E87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095347" y="2194560"/>
            <a:ext cx="1417320" cy="960120"/>
          </a:xfrm>
          <a:prstGeom prst="roundRect">
            <a:avLst/>
          </a:prstGeom>
          <a:solidFill>
            <a:srgbClr val="1F3A68"/>
          </a:solidFill>
          <a:ln w="15240"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语音识别
ASR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512667" y="2578608"/>
            <a:ext cx="228600" cy="182880"/>
          </a:xfrm>
          <a:prstGeom prst="rightArrow">
            <a:avLst/>
          </a:prstGeom>
          <a:solidFill>
            <a:srgbClr val="E87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741267" y="2194560"/>
            <a:ext cx="1417320" cy="960120"/>
          </a:xfrm>
          <a:prstGeom prst="roundRect">
            <a:avLst/>
          </a:prstGeom>
          <a:solidFill>
            <a:srgbClr val="F4F6FA"/>
          </a:solidFill>
          <a:ln w="15240"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222222"/>
                </a:solidFill>
                <a:latin typeface="Microsoft YaHei"/>
              </a:rPr>
              <a:t>视频分类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158587" y="2578608"/>
            <a:ext cx="228600" cy="182880"/>
          </a:xfrm>
          <a:prstGeom prst="rightArrow">
            <a:avLst/>
          </a:prstGeom>
          <a:solidFill>
            <a:srgbClr val="E87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387187" y="2194560"/>
            <a:ext cx="1417320" cy="960120"/>
          </a:xfrm>
          <a:prstGeom prst="roundRect">
            <a:avLst/>
          </a:prstGeom>
          <a:solidFill>
            <a:srgbClr val="1F3A68"/>
          </a:solidFill>
          <a:ln w="15240"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章节切分
LLM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804507" y="2578608"/>
            <a:ext cx="228600" cy="182880"/>
          </a:xfrm>
          <a:prstGeom prst="rightArrow">
            <a:avLst/>
          </a:prstGeom>
          <a:solidFill>
            <a:srgbClr val="E87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033107" y="2194560"/>
            <a:ext cx="1417320" cy="960120"/>
          </a:xfrm>
          <a:prstGeom prst="roundRect">
            <a:avLst/>
          </a:prstGeom>
          <a:solidFill>
            <a:srgbClr val="F4F6FA"/>
          </a:solidFill>
          <a:ln w="15240"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222222"/>
                </a:solidFill>
                <a:latin typeface="Microsoft YaHei"/>
              </a:rPr>
              <a:t>写章标题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450427" y="2578608"/>
            <a:ext cx="228600" cy="182880"/>
          </a:xfrm>
          <a:prstGeom prst="rightArrow">
            <a:avLst/>
          </a:prstGeom>
          <a:solidFill>
            <a:srgbClr val="E87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679027" y="2194560"/>
            <a:ext cx="1417320" cy="960120"/>
          </a:xfrm>
          <a:prstGeom prst="roundRect">
            <a:avLst/>
          </a:prstGeom>
          <a:solidFill>
            <a:srgbClr val="F4F6FA"/>
          </a:solidFill>
          <a:ln w="15240"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222222"/>
                </a:solidFill>
                <a:latin typeface="Microsoft YaHei"/>
              </a:rPr>
              <a:t>套模板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10096347" y="2578608"/>
            <a:ext cx="228600" cy="182880"/>
          </a:xfrm>
          <a:prstGeom prst="rightArrow">
            <a:avLst/>
          </a:prstGeom>
          <a:solidFill>
            <a:srgbClr val="E87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324947" y="2194560"/>
            <a:ext cx="1417320" cy="960120"/>
          </a:xfrm>
          <a:prstGeom prst="roundRect">
            <a:avLst/>
          </a:prstGeom>
          <a:solidFill>
            <a:srgbClr val="F4F6FA"/>
          </a:solidFill>
          <a:ln w="15240"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222222"/>
                </a:solidFill>
                <a:latin typeface="Microsoft YaHei"/>
              </a:rPr>
              <a:t>md / Web
双输出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6576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Microsoft YaHei"/>
              </a:rPr>
              <a:t>输入：B 站链接 或 本地视频文件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1148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 err="1">
                <a:solidFill>
                  <a:srgbClr val="222222"/>
                </a:solidFill>
                <a:latin typeface="Microsoft YaHei"/>
              </a:rPr>
              <a:t>输出</a:t>
            </a:r>
            <a:r>
              <a:rPr sz="1800" b="0" dirty="0">
                <a:solidFill>
                  <a:srgbClr val="222222"/>
                </a:solidFill>
                <a:latin typeface="Microsoft YaHei"/>
              </a:rPr>
              <a:t>：① </a:t>
            </a:r>
            <a:r>
              <a:rPr sz="1800" b="0" dirty="0" err="1">
                <a:solidFill>
                  <a:srgbClr val="222222"/>
                </a:solidFill>
                <a:latin typeface="Microsoft YaHei"/>
              </a:rPr>
              <a:t>结构化</a:t>
            </a:r>
            <a:r>
              <a:rPr sz="1800" b="0" dirty="0">
                <a:solidFill>
                  <a:srgbClr val="222222"/>
                </a:solidFill>
                <a:latin typeface="Microsoft YaHei"/>
              </a:rPr>
              <a:t> Markdown </a:t>
            </a:r>
            <a:r>
              <a:rPr sz="1800" b="0" dirty="0" err="1">
                <a:solidFill>
                  <a:srgbClr val="222222"/>
                </a:solidFill>
                <a:latin typeface="Microsoft YaHei"/>
              </a:rPr>
              <a:t>笔记</a:t>
            </a:r>
            <a:r>
              <a:rPr sz="1800" b="0" dirty="0">
                <a:solidFill>
                  <a:srgbClr val="222222"/>
                </a:solidFill>
                <a:latin typeface="Microsoft YaHei"/>
              </a:rPr>
              <a:t>    ② Next.js </a:t>
            </a:r>
            <a:r>
              <a:rPr sz="1800" b="0" dirty="0" err="1">
                <a:solidFill>
                  <a:srgbClr val="222222"/>
                </a:solidFill>
                <a:latin typeface="Microsoft YaHei"/>
              </a:rPr>
              <a:t>网页可视化（带播放器和章节跳转</a:t>
            </a:r>
            <a:r>
              <a:rPr sz="1800" b="0" dirty="0">
                <a:solidFill>
                  <a:srgbClr val="222222"/>
                </a:solidFill>
                <a:latin typeface="Microsoft YaHei"/>
              </a:rPr>
              <a:t>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846320"/>
            <a:ext cx="11091672" cy="12801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502920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  <a:latin typeface="Microsoft YaHei"/>
              </a:rPr>
              <a:t>关键设计：全程本地运行，不依赖在线 API。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53212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666666"/>
                </a:solidFill>
                <a:latin typeface="Microsoft YaHei"/>
              </a:rPr>
              <a:t>所用模型：faster-whisper（语音）+ Qwen2.5-7B-AWQ（大模型）+ Qwen2.5-VL（看图）。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Microsoft YaHei"/>
              </a:rPr>
              <a:t>网课视频笔记生成系统 · 课程结题展示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三、代码结构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01168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0">
                <a:solidFill>
                  <a:srgbClr val="FFFFFF"/>
                </a:solidFill>
                <a:latin typeface="Microsoft YaHei"/>
              </a:rPr>
              <a:t>4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  <a:latin typeface="Microsoft YaHei"/>
              </a:rPr>
              <a:t>后端 src/ 共 20+ 模块，前端 web/ 用 Next.js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222222"/>
                </a:solidFill>
                <a:latin typeface="Microsoft YaHei"/>
              </a:rPr>
              <a:t>后端 src/  （Python）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E87A2E"/>
                </a:solidFill>
                <a:latin typeface="Consolas"/>
              </a:rPr>
              <a:t>download.py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214884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Microsoft YaHei"/>
              </a:rPr>
              <a:t>yt-dlp 下载 B 站视频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32888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E87A2E"/>
                </a:solidFill>
                <a:latin typeface="Consolas"/>
              </a:rPr>
              <a:t>asr.py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2532888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Microsoft YaHei"/>
              </a:rPr>
              <a:t>faster-whisper 语音识别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16936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E87A2E"/>
                </a:solidFill>
                <a:latin typeface="Consolas"/>
              </a:rPr>
              <a:t>classify_category.py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2916936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Microsoft YaHei"/>
              </a:rPr>
              <a:t>4 类启发式视频分类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300984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E87A2E"/>
                </a:solidFill>
                <a:latin typeface="Consolas"/>
              </a:rPr>
              <a:t>segment_llm.py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3300984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Microsoft YaHei"/>
              </a:rPr>
              <a:t>LLM 章节切分（核心）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685032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E87A2E"/>
                </a:solidFill>
                <a:latin typeface="Consolas"/>
              </a:rPr>
              <a:t>summarize.py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3685032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Microsoft YaHei"/>
              </a:rPr>
              <a:t>章标题 + 摘要 + 章末小结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06908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E87A2E"/>
                </a:solidFill>
                <a:latin typeface="Consolas"/>
              </a:rPr>
              <a:t>caption_vl.py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406908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Microsoft YaHei"/>
              </a:rPr>
              <a:t>视觉大模型描述画面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453128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E87A2E"/>
                </a:solidFill>
                <a:latin typeface="Consolas"/>
              </a:rPr>
              <a:t>keyframe.py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71800" y="4453128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Microsoft YaHei"/>
              </a:rPr>
              <a:t>关键帧抽取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837176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E87A2E"/>
                </a:solidFill>
                <a:latin typeface="Consolas"/>
              </a:rPr>
              <a:t>pipeline.py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71800" y="4837176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Microsoft YaHei"/>
              </a:rPr>
              <a:t>总调度，串联以上模块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173736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222222"/>
                </a:solidFill>
                <a:latin typeface="Microsoft YaHei"/>
              </a:rPr>
              <a:t>前端 web/  （TypeScript）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214884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E87A2E"/>
                </a:solidFill>
                <a:latin typeface="Microsoft YaHei"/>
              </a:rPr>
              <a:t>Next.js 16 + React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06840" y="214884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Microsoft YaHei"/>
              </a:rPr>
              <a:t>App Router + SSG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2532888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E87A2E"/>
                </a:solidFill>
                <a:latin typeface="Microsoft YaHei"/>
              </a:rPr>
              <a:t>Plyr 播放器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40" y="2532888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Microsoft YaHei"/>
              </a:rPr>
              <a:t>视频时间戳跳转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2916936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E87A2E"/>
                </a:solidFill>
                <a:latin typeface="Microsoft YaHei"/>
              </a:rPr>
              <a:t>双语 toggle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06840" y="2916936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Microsoft YaHei"/>
              </a:rPr>
              <a:t>中文 ↔ 英文一键切换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3300984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E87A2E"/>
                </a:solidFill>
                <a:latin typeface="Microsoft YaHei"/>
              </a:rPr>
              <a:t>Apple 风格 UI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6840" y="3300984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Microsoft YaHei"/>
              </a:rPr>
              <a:t>流动粒子背景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0" y="4114800"/>
            <a:ext cx="5029200" cy="18288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766560" y="425196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F3A68"/>
                </a:solidFill>
                <a:latin typeface="Microsoft YaHei"/>
              </a:rPr>
              <a:t>运行环境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4663440"/>
            <a:ext cx="475488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dirty="0">
                <a:solidFill>
                  <a:srgbClr val="222222"/>
                </a:solidFill>
                <a:latin typeface="Microsoft YaHei"/>
              </a:rPr>
              <a:t>● </a:t>
            </a:r>
            <a:r>
              <a:rPr sz="1300" b="0" dirty="0" err="1">
                <a:solidFill>
                  <a:srgbClr val="222222"/>
                </a:solidFill>
                <a:latin typeface="Microsoft YaHei"/>
              </a:rPr>
              <a:t>显存约</a:t>
            </a:r>
            <a:r>
              <a:rPr sz="1300" b="0" dirty="0">
                <a:solidFill>
                  <a:srgbClr val="222222"/>
                </a:solidFill>
                <a:latin typeface="Microsoft YaHei"/>
              </a:rPr>
              <a:t> </a:t>
            </a:r>
            <a:r>
              <a:rPr lang="en-US" sz="1300" b="0" dirty="0">
                <a:solidFill>
                  <a:srgbClr val="222222"/>
                </a:solidFill>
                <a:latin typeface="Microsoft YaHei"/>
              </a:rPr>
              <a:t>12</a:t>
            </a:r>
            <a:r>
              <a:rPr sz="1300" b="0" dirty="0">
                <a:solidFill>
                  <a:srgbClr val="222222"/>
                </a:solidFill>
                <a:latin typeface="Microsoft YaHei"/>
              </a:rPr>
              <a:t> GB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502920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dirty="0">
                <a:solidFill>
                  <a:srgbClr val="222222"/>
                </a:solidFill>
                <a:latin typeface="Microsoft YaHei"/>
              </a:rPr>
              <a:t>● </a:t>
            </a:r>
            <a:r>
              <a:rPr sz="1300" b="0" dirty="0" err="1">
                <a:solidFill>
                  <a:srgbClr val="222222"/>
                </a:solidFill>
                <a:latin typeface="Microsoft YaHei"/>
              </a:rPr>
              <a:t>完整</a:t>
            </a:r>
            <a:r>
              <a:rPr sz="1300" b="0" dirty="0">
                <a:solidFill>
                  <a:srgbClr val="222222"/>
                </a:solidFill>
                <a:latin typeface="Microsoft YaHei"/>
              </a:rPr>
              <a:t> pipeline </a:t>
            </a:r>
            <a:r>
              <a:rPr sz="1300" b="0" dirty="0" err="1">
                <a:solidFill>
                  <a:srgbClr val="222222"/>
                </a:solidFill>
                <a:latin typeface="Microsoft YaHei"/>
              </a:rPr>
              <a:t>单视频</a:t>
            </a:r>
            <a:r>
              <a:rPr sz="1300" b="0" dirty="0">
                <a:solidFill>
                  <a:srgbClr val="222222"/>
                </a:solidFill>
                <a:latin typeface="Microsoft YaHei"/>
              </a:rPr>
              <a:t> 5-20 </a:t>
            </a:r>
            <a:r>
              <a:rPr sz="1300" b="0" dirty="0" err="1">
                <a:solidFill>
                  <a:srgbClr val="222222"/>
                </a:solidFill>
                <a:latin typeface="Microsoft YaHei"/>
              </a:rPr>
              <a:t>分钟</a:t>
            </a:r>
            <a:endParaRPr sz="1300" b="0" dirty="0">
              <a:solidFill>
                <a:srgbClr val="222222"/>
              </a:solidFill>
              <a:latin typeface="Microsoft YaHei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766560" y="539496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dirty="0">
                <a:solidFill>
                  <a:srgbClr val="222222"/>
                </a:solidFill>
                <a:latin typeface="Microsoft YaHei"/>
              </a:rPr>
              <a:t>● </a:t>
            </a:r>
            <a:r>
              <a:rPr sz="1300" b="0" dirty="0" err="1">
                <a:solidFill>
                  <a:srgbClr val="222222"/>
                </a:solidFill>
                <a:latin typeface="Microsoft YaHei"/>
              </a:rPr>
              <a:t>全本地，无在线</a:t>
            </a:r>
            <a:r>
              <a:rPr sz="1300" b="0" dirty="0">
                <a:solidFill>
                  <a:srgbClr val="222222"/>
                </a:solidFill>
                <a:latin typeface="Microsoft YaHei"/>
              </a:rPr>
              <a:t> API </a:t>
            </a:r>
            <a:r>
              <a:rPr sz="1300" b="0" dirty="0" err="1">
                <a:solidFill>
                  <a:srgbClr val="222222"/>
                </a:solidFill>
                <a:latin typeface="Microsoft YaHei"/>
              </a:rPr>
              <a:t>依赖</a:t>
            </a:r>
            <a:endParaRPr sz="1300" b="0" dirty="0">
              <a:solidFill>
                <a:srgbClr val="222222"/>
              </a:solidFill>
              <a:latin typeface="Microsoft YaHei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Microsoft YaHei"/>
              </a:rPr>
              <a:t>网课视频笔记生成系统 · 课程结题展示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四、核心方法 ① · LLM 章节切分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01168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0">
                <a:solidFill>
                  <a:srgbClr val="FFFFFF"/>
                </a:solidFill>
                <a:latin typeface="Microsoft YaHei"/>
              </a:rPr>
              <a:t>5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  <a:latin typeface="Microsoft YaHei"/>
              </a:rPr>
              <a:t>用大模型替代传统算法切章节，配三层程序兜底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097280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>
                <a:solidFill>
                  <a:srgbClr val="E87A2E"/>
                </a:solidFill>
                <a:latin typeface="Microsoft YaHei"/>
              </a:rPr>
              <a:t>● </a:t>
            </a:r>
            <a:r>
              <a:rPr sz="1900" b="1">
                <a:solidFill>
                  <a:srgbClr val="222222"/>
                </a:solidFill>
                <a:latin typeface="Microsoft YaHei"/>
              </a:rPr>
              <a:t>使用本地大模型 Qwen2.5-7B-AWQ。</a:t>
            </a:r>
            <a:r>
              <a:rPr sz="1700">
                <a:solidFill>
                  <a:srgbClr val="666666"/>
                </a:solidFill>
                <a:latin typeface="Microsoft YaHei"/>
              </a:rPr>
              <a:t>  4-bit 量化版本，5 GB 显存就能跑。</a:t>
            </a:r>
          </a:p>
          <a:p>
            <a:pPr algn="l">
              <a:lnSpc>
                <a:spcPct val="135000"/>
              </a:lnSpc>
            </a:pPr>
            <a:r>
              <a:rPr sz="1900">
                <a:solidFill>
                  <a:srgbClr val="E87A2E"/>
                </a:solidFill>
                <a:latin typeface="Microsoft YaHei"/>
              </a:rPr>
              <a:t>● </a:t>
            </a:r>
            <a:r>
              <a:rPr sz="1900" b="1">
                <a:solidFill>
                  <a:srgbClr val="222222"/>
                </a:solidFill>
                <a:latin typeface="Microsoft YaHei"/>
              </a:rPr>
              <a:t>B1 两步法：先列大纲，再起标题。</a:t>
            </a:r>
            <a:r>
              <a:rPr sz="1700">
                <a:solidFill>
                  <a:srgbClr val="666666"/>
                </a:solidFill>
                <a:latin typeface="Microsoft YaHei"/>
              </a:rPr>
              <a:t>  拆成两次调用，避免一次性出错全错。</a:t>
            </a:r>
          </a:p>
          <a:p>
            <a:pPr algn="l">
              <a:lnSpc>
                <a:spcPct val="135000"/>
              </a:lnSpc>
            </a:pPr>
            <a:r>
              <a:rPr sz="1900">
                <a:solidFill>
                  <a:srgbClr val="E87A2E"/>
                </a:solidFill>
                <a:latin typeface="Microsoft YaHei"/>
              </a:rPr>
              <a:t>● </a:t>
            </a:r>
            <a:r>
              <a:rPr sz="1900" b="1">
                <a:solidFill>
                  <a:srgbClr val="222222"/>
                </a:solidFill>
                <a:latin typeface="Microsoft YaHei"/>
              </a:rPr>
              <a:t>三层兜底：retry-with-feedback → 程序救援 → 老算法兜底。</a:t>
            </a:r>
            <a:r>
              <a:rPr sz="1700">
                <a:solidFill>
                  <a:srgbClr val="666666"/>
                </a:solidFill>
                <a:latin typeface="Microsoft YaHei"/>
              </a:rPr>
              <a:t>  第一次失败把错误反馈给模型再试；还不行就用代码强制修复。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663440"/>
            <a:ext cx="11091672" cy="14630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48006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E87A2E"/>
                </a:solidFill>
                <a:latin typeface="Microsoft YaHei"/>
              </a:rPr>
              <a:t>关键结果：24 个视频 100% 切分成功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3035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Microsoft YaHei"/>
              </a:rPr>
              <a:t>● 22% 第一次就过    ● 67% retry 救回    ● 11% 程序救回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7150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Microsoft YaHei"/>
              </a:rPr>
              <a:t>● 老算法 TextTiling fallback：0 次触发（说明前面三层够用）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Microsoft YaHei"/>
              </a:rPr>
              <a:t>网课视频笔记生成系统 · 课程结题展示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四、核心方法 ② · ASR 后处理 与 健壮性防御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01168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0">
                <a:solidFill>
                  <a:srgbClr val="FFFFFF"/>
                </a:solidFill>
                <a:latin typeface="Microsoft YaHei"/>
              </a:rPr>
              <a:t>6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  <a:latin typeface="Microsoft YaHei"/>
              </a:rPr>
              <a:t>语音识别经常出错，靠后处理把脏数据洗干净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09728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>
                <a:solidFill>
                  <a:srgbClr val="E87A2E"/>
                </a:solidFill>
                <a:latin typeface="Microsoft YaHei"/>
              </a:rPr>
              <a:t>● </a:t>
            </a:r>
            <a:r>
              <a:rPr sz="1900" b="1">
                <a:solidFill>
                  <a:srgbClr val="222222"/>
                </a:solidFill>
                <a:latin typeface="Microsoft YaHei"/>
              </a:rPr>
              <a:t>术语字典自动注入。</a:t>
            </a:r>
            <a:r>
              <a:rPr sz="1700">
                <a:solidFill>
                  <a:srgbClr val="666666"/>
                </a:solidFill>
                <a:latin typeface="Microsoft YaHei"/>
              </a:rPr>
              <a:t>  从视频标题/简介里抓专业词喂给语音模型，避免认错（如「哲学家」不会被听成「哲学者」）。</a:t>
            </a:r>
          </a:p>
          <a:p>
            <a:pPr algn="l">
              <a:lnSpc>
                <a:spcPct val="135000"/>
              </a:lnSpc>
            </a:pPr>
            <a:r>
              <a:rPr sz="1900">
                <a:solidFill>
                  <a:srgbClr val="E87A2E"/>
                </a:solidFill>
                <a:latin typeface="Microsoft YaHei"/>
              </a:rPr>
              <a:t>● </a:t>
            </a:r>
            <a:r>
              <a:rPr sz="1900" b="1">
                <a:solidFill>
                  <a:srgbClr val="222222"/>
                </a:solidFill>
                <a:latin typeface="Microsoft YaHei"/>
              </a:rPr>
              <a:t>LCP 重复段去重。</a:t>
            </a:r>
            <a:r>
              <a:rPr sz="1700">
                <a:solidFill>
                  <a:srgbClr val="666666"/>
                </a:solidFill>
                <a:latin typeface="Microsoft YaHei"/>
              </a:rPr>
              <a:t>  把字幕里「复读机」段落合并掉——语音模型偶尔抽风，把同一句重复几十遍。</a:t>
            </a:r>
          </a:p>
          <a:p>
            <a:pPr algn="l">
              <a:lnSpc>
                <a:spcPct val="135000"/>
              </a:lnSpc>
            </a:pPr>
            <a:r>
              <a:rPr sz="1900">
                <a:solidFill>
                  <a:srgbClr val="E87A2E"/>
                </a:solidFill>
                <a:latin typeface="Microsoft YaHei"/>
              </a:rPr>
              <a:t>● </a:t>
            </a:r>
            <a:r>
              <a:rPr sz="1900" b="1">
                <a:solidFill>
                  <a:srgbClr val="222222"/>
                </a:solidFill>
                <a:latin typeface="Microsoft YaHei"/>
              </a:rPr>
              <a:t>三层健壮性防御：解码约束 + 幻觉门 + 增量落盘。</a:t>
            </a:r>
            <a:r>
              <a:rPr sz="1700">
                <a:solidFill>
                  <a:srgbClr val="666666"/>
                </a:solidFill>
                <a:latin typeface="Microsoft YaHei"/>
              </a:rPr>
              <a:t>  长视频跑到 99% 时崩溃不会丢全部进度，类似数据库的 WAL 思想。</a:t>
            </a:r>
          </a:p>
          <a:p>
            <a:pPr algn="l">
              <a:lnSpc>
                <a:spcPct val="135000"/>
              </a:lnSpc>
            </a:pPr>
            <a:r>
              <a:rPr sz="1900">
                <a:solidFill>
                  <a:srgbClr val="E87A2E"/>
                </a:solidFill>
                <a:latin typeface="Microsoft YaHei"/>
              </a:rPr>
              <a:t>● </a:t>
            </a:r>
            <a:r>
              <a:rPr sz="1900" b="1">
                <a:solidFill>
                  <a:srgbClr val="222222"/>
                </a:solidFill>
                <a:latin typeface="Microsoft YaHei"/>
              </a:rPr>
              <a:t>ASR 置信度可视化。</a:t>
            </a:r>
            <a:r>
              <a:rPr sz="1700">
                <a:solidFill>
                  <a:srgbClr val="666666"/>
                </a:solidFill>
                <a:latin typeface="Microsoft YaHei"/>
              </a:rPr>
              <a:t>  模型自己也不确信的字会被标 [?]，让用户能识别可疑内容。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Microsoft YaHei"/>
              </a:rPr>
              <a:t>网课视频笔记生成系统 · 课程结题展示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四、核心方法 ③ · 学习场景结构 与 模板分发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01168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0">
                <a:solidFill>
                  <a:srgbClr val="FFFFFF"/>
                </a:solidFill>
                <a:latin typeface="Microsoft YaHei"/>
              </a:rPr>
              <a:t>7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  <a:latin typeface="Microsoft YaHei"/>
              </a:rPr>
              <a:t>为不同类型视频套不同模板，学习类有 5 件套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222222"/>
                </a:solidFill>
                <a:latin typeface="Microsoft YaHei"/>
              </a:rPr>
              <a:t>学习模板 5 件套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9427" y="2194560"/>
            <a:ext cx="2148840" cy="1463040"/>
          </a:xfrm>
          <a:prstGeom prst="roundRect">
            <a:avLst/>
          </a:prstGeom>
          <a:solidFill>
            <a:srgbClr val="F4F6FA"/>
          </a:solidFill>
          <a:ln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F3A68"/>
                </a:solidFill>
                <a:latin typeface="Microsoft YaHei"/>
              </a:rPr>
              <a:t>目录
TOC</a:t>
            </a:r>
          </a:p>
          <a:p>
            <a:pPr algn="ctr"/>
            <a:r>
              <a:rPr sz="1100">
                <a:solidFill>
                  <a:srgbClr val="666666"/>
                </a:solidFill>
                <a:latin typeface="Microsoft YaHei"/>
              </a:rPr>
              <a:t>可点击跳转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35427" y="2194560"/>
            <a:ext cx="2148840" cy="1463040"/>
          </a:xfrm>
          <a:prstGeom prst="roundRect">
            <a:avLst/>
          </a:prstGeom>
          <a:solidFill>
            <a:srgbClr val="F4F6FA"/>
          </a:solidFill>
          <a:ln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F3A68"/>
                </a:solidFill>
                <a:latin typeface="Microsoft YaHei"/>
              </a:rPr>
              <a:t>摘要卡</a:t>
            </a:r>
          </a:p>
          <a:p>
            <a:pPr algn="ctr"/>
            <a:r>
              <a:rPr sz="1100">
                <a:solidFill>
                  <a:srgbClr val="666666"/>
                </a:solidFill>
                <a:latin typeface="Microsoft YaHei"/>
              </a:rPr>
              <a:t>全文一句话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1427" y="2194560"/>
            <a:ext cx="2148840" cy="1463040"/>
          </a:xfrm>
          <a:prstGeom prst="roundRect">
            <a:avLst/>
          </a:prstGeom>
          <a:solidFill>
            <a:srgbClr val="F4F6FA"/>
          </a:solidFill>
          <a:ln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F3A68"/>
                </a:solidFill>
                <a:latin typeface="Microsoft YaHei"/>
              </a:rPr>
              <a:t>知识点
速览</a:t>
            </a:r>
          </a:p>
          <a:p>
            <a:pPr algn="ctr"/>
            <a:r>
              <a:rPr sz="1100">
                <a:solidFill>
                  <a:srgbClr val="666666"/>
                </a:solidFill>
                <a:latin typeface="Microsoft YaHei"/>
              </a:rPr>
              <a:t>每章核心点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07427" y="2194560"/>
            <a:ext cx="2148840" cy="1463040"/>
          </a:xfrm>
          <a:prstGeom prst="roundRect">
            <a:avLst/>
          </a:prstGeom>
          <a:solidFill>
            <a:srgbClr val="F4F6FA"/>
          </a:solidFill>
          <a:ln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F3A68"/>
                </a:solidFill>
                <a:latin typeface="Microsoft YaHei"/>
              </a:rPr>
              <a:t>术语表</a:t>
            </a:r>
          </a:p>
          <a:p>
            <a:pPr algn="ctr"/>
            <a:r>
              <a:rPr sz="1100">
                <a:solidFill>
                  <a:srgbClr val="666666"/>
                </a:solidFill>
                <a:latin typeface="Microsoft YaHei"/>
              </a:rPr>
              <a:t>首次出现链接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93427" y="2194560"/>
            <a:ext cx="2148840" cy="1463040"/>
          </a:xfrm>
          <a:prstGeom prst="roundRect">
            <a:avLst/>
          </a:prstGeom>
          <a:solidFill>
            <a:srgbClr val="F4F6FA"/>
          </a:solidFill>
          <a:ln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F3A68"/>
                </a:solidFill>
                <a:latin typeface="Microsoft YaHei"/>
              </a:rPr>
              <a:t>章末
小结</a:t>
            </a:r>
          </a:p>
          <a:p>
            <a:pPr algn="ctr"/>
            <a:r>
              <a:rPr sz="1100">
                <a:solidFill>
                  <a:srgbClr val="666666"/>
                </a:solidFill>
                <a:latin typeface="Microsoft YaHei"/>
              </a:rPr>
              <a:t>抽取式总结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23360"/>
            <a:ext cx="1097280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>
                <a:solidFill>
                  <a:srgbClr val="E87A2E"/>
                </a:solidFill>
                <a:latin typeface="Microsoft YaHei"/>
              </a:rPr>
              <a:t>● </a:t>
            </a:r>
            <a:r>
              <a:rPr sz="1800" b="1">
                <a:solidFill>
                  <a:srgbClr val="222222"/>
                </a:solidFill>
                <a:latin typeface="Microsoft YaHei"/>
              </a:rPr>
              <a:t>视频分类：4 类启发式分类器（教学 / 科普 / Vlog / 演讲）。</a:t>
            </a:r>
            <a:r>
              <a:rPr sz="1600">
                <a:solidFill>
                  <a:srgbClr val="666666"/>
                </a:solidFill>
                <a:latin typeface="Microsoft YaHei"/>
              </a:rPr>
              <a:t>  用 ASR 文本特征 + metadata 自动判断，24 个视频准确率 24/24。</a:t>
            </a:r>
          </a:p>
          <a:p>
            <a:pPr algn="l">
              <a:lnSpc>
                <a:spcPct val="135000"/>
              </a:lnSpc>
            </a:pPr>
            <a:r>
              <a:rPr sz="1800">
                <a:solidFill>
                  <a:srgbClr val="E87A2E"/>
                </a:solidFill>
                <a:latin typeface="Microsoft YaHei"/>
              </a:rPr>
              <a:t>● </a:t>
            </a:r>
            <a:r>
              <a:rPr sz="1800" b="1">
                <a:solidFill>
                  <a:srgbClr val="222222"/>
                </a:solidFill>
                <a:latin typeface="Microsoft YaHei"/>
              </a:rPr>
              <a:t>模板分发：不同类视频套不同模板。</a:t>
            </a:r>
            <a:r>
              <a:rPr sz="1600">
                <a:solidFill>
                  <a:srgbClr val="666666"/>
                </a:solidFill>
                <a:latin typeface="Microsoft YaHei"/>
              </a:rPr>
              <a:t>  Vlog 视频不需要「知识点速览」，自动换成探店风格摘要。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Microsoft YaHei"/>
              </a:rPr>
              <a:t>网课视频笔记生成系统 · 课程结题展示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四、核心方法 ④ · 多模态视觉信号融合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01168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0">
                <a:solidFill>
                  <a:srgbClr val="FFFFFF"/>
                </a:solidFill>
                <a:latin typeface="Microsoft YaHei"/>
              </a:rPr>
              <a:t>8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  <a:latin typeface="Microsoft YaHei"/>
              </a:rPr>
              <a:t>不光看字幕，也看画面——但视觉只能当辅助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097280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>
                <a:solidFill>
                  <a:srgbClr val="E87A2E"/>
                </a:solidFill>
                <a:latin typeface="Microsoft YaHei"/>
              </a:rPr>
              <a:t>● </a:t>
            </a:r>
            <a:r>
              <a:rPr sz="1900" b="1">
                <a:solidFill>
                  <a:srgbClr val="222222"/>
                </a:solidFill>
                <a:latin typeface="Microsoft YaHei"/>
              </a:rPr>
              <a:t>把视频画面用 CLIP 编码，作为章节切分的辅助信号。</a:t>
            </a:r>
            <a:r>
              <a:rPr sz="1700">
                <a:solidFill>
                  <a:srgbClr val="666666"/>
                </a:solidFill>
                <a:latin typeface="Microsoft YaHei"/>
              </a:rPr>
              <a:t>  画面跳变可能意味着章节切换。</a:t>
            </a:r>
          </a:p>
          <a:p>
            <a:pPr algn="l">
              <a:lnSpc>
                <a:spcPct val="135000"/>
              </a:lnSpc>
            </a:pPr>
            <a:r>
              <a:rPr sz="1900">
                <a:solidFill>
                  <a:srgbClr val="E87A2E"/>
                </a:solidFill>
                <a:latin typeface="Microsoft YaHei"/>
              </a:rPr>
              <a:t>● </a:t>
            </a:r>
            <a:r>
              <a:rPr sz="1900" b="1">
                <a:solidFill>
                  <a:srgbClr val="222222"/>
                </a:solidFill>
                <a:latin typeface="Microsoft YaHei"/>
              </a:rPr>
              <a:t>关键发现：视觉信号权重 α = 0.3 最佳。</a:t>
            </a:r>
            <a:r>
              <a:rPr sz="1700">
                <a:solidFill>
                  <a:srgbClr val="666666"/>
                </a:solidFill>
                <a:latin typeface="Microsoft YaHei"/>
              </a:rPr>
              <a:t>  PPT 教学里 slide 翻页太频繁，不能让画面主导，否则会过切。</a:t>
            </a:r>
          </a:p>
          <a:p>
            <a:pPr algn="l">
              <a:lnSpc>
                <a:spcPct val="135000"/>
              </a:lnSpc>
            </a:pPr>
            <a:r>
              <a:rPr sz="1900">
                <a:solidFill>
                  <a:srgbClr val="E87A2E"/>
                </a:solidFill>
                <a:latin typeface="Microsoft YaHei"/>
              </a:rPr>
              <a:t>● </a:t>
            </a:r>
            <a:r>
              <a:rPr sz="1900" b="1">
                <a:solidFill>
                  <a:srgbClr val="222222"/>
                </a:solidFill>
                <a:latin typeface="Microsoft YaHei"/>
              </a:rPr>
              <a:t>长视频额外启用 VLM 看图模型。</a:t>
            </a:r>
            <a:r>
              <a:rPr sz="1700">
                <a:solidFill>
                  <a:srgbClr val="666666"/>
                </a:solidFill>
                <a:latin typeface="Microsoft YaHei"/>
              </a:rPr>
              <a:t>  Qwen2.5-VL 直接描述画面内容，作为大模型的额外参考。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029200"/>
            <a:ext cx="11091672" cy="10972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521208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E87A2E"/>
                </a:solidFill>
                <a:latin typeface="Microsoft YaHei"/>
              </a:rPr>
              <a:t>多模态消融实验：9 视频中 3 个 attempts 数下降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6692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Microsoft YaHei"/>
              </a:rPr>
              <a:t>说明视觉信号确实让大模型「少瞎想」，但 PPT 域要小心过切风险。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Microsoft YaHei"/>
              </a:rPr>
              <a:t>网课视频笔记生成系统 · 课程结题展示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五、实验 · Benchmark 与主结果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01168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0">
                <a:solidFill>
                  <a:srgbClr val="FFFFFF"/>
                </a:solidFill>
                <a:latin typeface="Microsoft YaHei"/>
              </a:rPr>
              <a:t>9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  <a:latin typeface="Microsoft YaHei"/>
              </a:rPr>
              <a:t>32 视频跨域 benchmark，关键指标用数字说话</a:t>
            </a:r>
          </a:p>
        </p:txBody>
      </p:sp>
      <p:sp>
        <p:nvSpPr>
          <p:cNvPr id="6" name="Rectangle 5"/>
          <p:cNvSpPr/>
          <p:nvPr/>
        </p:nvSpPr>
        <p:spPr>
          <a:xfrm>
            <a:off x="495147" y="1828800"/>
            <a:ext cx="3611880" cy="21945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78027" y="1965960"/>
            <a:ext cx="3611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666666"/>
                </a:solidFill>
                <a:latin typeface="Microsoft YaHei"/>
              </a:rPr>
              <a:t>王道 OS p37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8027" y="2423160"/>
            <a:ext cx="36118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>
                <a:solidFill>
                  <a:srgbClr val="E87A2E"/>
                </a:solidFill>
                <a:latin typeface="Microsoft YaHei"/>
              </a:rPr>
              <a:t>0.50 → 1.00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8027" y="3291840"/>
            <a:ext cx="3611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Microsoft YaHei"/>
              </a:rPr>
              <a:t>F1@1 翻倍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8027" y="3611880"/>
            <a:ext cx="3611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1F3A68"/>
                </a:solidFill>
                <a:latin typeface="Microsoft YaHei"/>
              </a:rPr>
              <a:t>→ 去重救援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89907" y="1828800"/>
            <a:ext cx="3611880" cy="21945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72787" y="1965960"/>
            <a:ext cx="3611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666666"/>
                </a:solidFill>
                <a:latin typeface="Microsoft YaHei"/>
              </a:rPr>
              <a:t>计网 p38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2787" y="2423160"/>
            <a:ext cx="36118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>
                <a:solidFill>
                  <a:srgbClr val="E87A2E"/>
                </a:solidFill>
                <a:latin typeface="Microsoft YaHei"/>
              </a:rPr>
              <a:t>0.25 → 0.75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2787" y="3291840"/>
            <a:ext cx="3611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Microsoft YaHei"/>
              </a:rPr>
              <a:t>严格 F1 +0.5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72787" y="3611880"/>
            <a:ext cx="3611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1F3A68"/>
                </a:solidFill>
                <a:latin typeface="Microsoft YaHei"/>
              </a:rPr>
              <a:t>→ 去重 + 切分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84667" y="1828800"/>
            <a:ext cx="3611880" cy="21945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67547" y="1965960"/>
            <a:ext cx="3611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666666"/>
                </a:solidFill>
                <a:latin typeface="Microsoft YaHei"/>
              </a:rPr>
              <a:t>LLM 切分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7547" y="2423160"/>
            <a:ext cx="36118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>
                <a:solidFill>
                  <a:srgbClr val="E87A2E"/>
                </a:solidFill>
                <a:latin typeface="Microsoft YaHei"/>
              </a:rP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7547" y="3291840"/>
            <a:ext cx="3611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Microsoft YaHei"/>
              </a:rPr>
              <a:t>24 视频覆盖率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7547" y="3611880"/>
            <a:ext cx="3611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1F3A68"/>
                </a:solidFill>
                <a:latin typeface="Microsoft YaHei"/>
              </a:rPr>
              <a:t>→ 三层兜底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297680"/>
            <a:ext cx="109728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>
                <a:solidFill>
                  <a:srgbClr val="E87A2E"/>
                </a:solidFill>
                <a:latin typeface="Microsoft YaHei"/>
              </a:rPr>
              <a:t>● </a:t>
            </a:r>
            <a:r>
              <a:rPr sz="1600" b="1">
                <a:solidFill>
                  <a:srgbClr val="222222"/>
                </a:solidFill>
                <a:latin typeface="Microsoft YaHei"/>
              </a:rPr>
              <a:t>Benchmark 规模：32 个视频手工标注（学习类 26 + 实拍类 6）。</a:t>
            </a:r>
            <a:r>
              <a:rPr sz="1400">
                <a:solidFill>
                  <a:srgbClr val="666666"/>
                </a:solidFill>
                <a:latin typeface="Microsoft YaHei"/>
              </a:rPr>
              <a:t>  </a:t>
            </a:r>
          </a:p>
          <a:p>
            <a:pPr algn="l">
              <a:lnSpc>
                <a:spcPct val="135000"/>
              </a:lnSpc>
            </a:pPr>
            <a:r>
              <a:rPr sz="1600">
                <a:solidFill>
                  <a:srgbClr val="E87A2E"/>
                </a:solidFill>
                <a:latin typeface="Microsoft YaHei"/>
              </a:rPr>
              <a:t>● </a:t>
            </a:r>
            <a:r>
              <a:rPr sz="1600" b="1">
                <a:solidFill>
                  <a:srgbClr val="222222"/>
                </a:solidFill>
                <a:latin typeface="Microsoft YaHei"/>
              </a:rPr>
              <a:t>章节切分 LLM 路径覆盖：22% 一次过 + 67% retry + 11% 程序救回 = 100%。</a:t>
            </a:r>
            <a:r>
              <a:rPr sz="1400">
                <a:solidFill>
                  <a:srgbClr val="666666"/>
                </a:solidFill>
                <a:latin typeface="Microsoft YaHei"/>
              </a:rPr>
              <a:t>  </a:t>
            </a:r>
          </a:p>
          <a:p>
            <a:pPr algn="l">
              <a:lnSpc>
                <a:spcPct val="135000"/>
              </a:lnSpc>
            </a:pPr>
            <a:r>
              <a:rPr sz="1600">
                <a:solidFill>
                  <a:srgbClr val="E87A2E"/>
                </a:solidFill>
                <a:latin typeface="Microsoft YaHei"/>
              </a:rPr>
              <a:t>● </a:t>
            </a:r>
            <a:r>
              <a:rPr sz="1600" b="1">
                <a:solidFill>
                  <a:srgbClr val="222222"/>
                </a:solidFill>
                <a:latin typeface="Microsoft YaHei"/>
              </a:rPr>
              <a:t>F1@1 是 ±1 chunk 容差指标，比严格 F1 更适合短视频评估。</a:t>
            </a:r>
            <a:r>
              <a:rPr sz="1400">
                <a:solidFill>
                  <a:srgbClr val="666666"/>
                </a:solidFill>
                <a:latin typeface="Microsoft YaHei"/>
              </a:rPr>
              <a:t> 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Microsoft YaHei"/>
              </a:rPr>
              <a:t>网课视频笔记生成系统 · 课程结题展示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五、实验 · 消融与跨域泛化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01168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0">
                <a:solidFill>
                  <a:srgbClr val="FFFFFF"/>
                </a:solidFill>
                <a:latin typeface="Microsoft YaHei"/>
              </a:rPr>
              <a:t>10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  <a:latin typeface="Microsoft YaHei"/>
              </a:rPr>
              <a:t>从 10 视频扩到 32 视频，架构在不同域都稳定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09728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>
                <a:solidFill>
                  <a:srgbClr val="E87A2E"/>
                </a:solidFill>
                <a:latin typeface="Microsoft YaHei"/>
              </a:rPr>
              <a:t>● </a:t>
            </a:r>
            <a:r>
              <a:rPr sz="1800" b="1">
                <a:solidFill>
                  <a:srgbClr val="222222"/>
                </a:solidFill>
                <a:latin typeface="Microsoft YaHei"/>
              </a:rPr>
              <a:t>α sweep 消融：10 视频 × 2 chunker，α = 0.3 是稳健甜点。</a:t>
            </a:r>
            <a:r>
              <a:rPr sz="1600">
                <a:solidFill>
                  <a:srgbClr val="666666"/>
                </a:solidFill>
                <a:latin typeface="Microsoft YaHei"/>
              </a:rPr>
              <a:t>  视觉权重过高会让 PPT 视频过切，过低则失去视觉信息。</a:t>
            </a:r>
          </a:p>
          <a:p>
            <a:pPr algn="l">
              <a:lnSpc>
                <a:spcPct val="135000"/>
              </a:lnSpc>
            </a:pPr>
            <a:r>
              <a:rPr sz="1800">
                <a:solidFill>
                  <a:srgbClr val="E87A2E"/>
                </a:solidFill>
                <a:latin typeface="Microsoft YaHei"/>
              </a:rPr>
              <a:t>● </a:t>
            </a:r>
            <a:r>
              <a:rPr sz="1800" b="1">
                <a:solidFill>
                  <a:srgbClr val="222222"/>
                </a:solidFill>
                <a:latin typeface="Microsoft YaHei"/>
              </a:rPr>
              <a:t>24 视频架构泛化：扩样本不退化。</a:t>
            </a:r>
            <a:r>
              <a:rPr sz="1600">
                <a:solidFill>
                  <a:srgbClr val="666666"/>
                </a:solidFill>
                <a:latin typeface="Microsoft YaHei"/>
              </a:rPr>
              <a:t>  证明系统不是只在小数据集上调通的过拟合方案。</a:t>
            </a:r>
          </a:p>
          <a:p>
            <a:pPr algn="l">
              <a:lnSpc>
                <a:spcPct val="135000"/>
              </a:lnSpc>
            </a:pPr>
            <a:r>
              <a:rPr sz="1800">
                <a:solidFill>
                  <a:srgbClr val="E87A2E"/>
                </a:solidFill>
                <a:latin typeface="Microsoft YaHei"/>
              </a:rPr>
              <a:t>● </a:t>
            </a:r>
            <a:r>
              <a:rPr sz="1800" b="1">
                <a:solidFill>
                  <a:srgbClr val="222222"/>
                </a:solidFill>
                <a:latin typeface="Microsoft YaHei"/>
              </a:rPr>
              <a:t>中英双语支持：英文教学视频 (EH5jx5qPabU) 跑通。</a:t>
            </a:r>
            <a:r>
              <a:rPr sz="1600">
                <a:solidFill>
                  <a:srgbClr val="666666"/>
                </a:solidFill>
                <a:latin typeface="Microsoft YaHei"/>
              </a:rPr>
              <a:t>  句号本土化、Qwen 出英文、wrap-up 大小写三处适配。</a:t>
            </a:r>
          </a:p>
          <a:p>
            <a:pPr algn="l">
              <a:lnSpc>
                <a:spcPct val="135000"/>
              </a:lnSpc>
            </a:pPr>
            <a:r>
              <a:rPr sz="1800">
                <a:solidFill>
                  <a:srgbClr val="E87A2E"/>
                </a:solidFill>
                <a:latin typeface="Microsoft YaHei"/>
              </a:rPr>
              <a:t>● </a:t>
            </a:r>
            <a:r>
              <a:rPr sz="1800" b="1">
                <a:solidFill>
                  <a:srgbClr val="222222"/>
                </a:solidFill>
                <a:latin typeface="Microsoft YaHei"/>
              </a:rPr>
              <a:t>多模态 ablation：mm 路径让 9 视频中 3 个的 LLM attempts 数减少。</a:t>
            </a:r>
            <a:r>
              <a:rPr sz="1600">
                <a:solidFill>
                  <a:srgbClr val="666666"/>
                </a:solidFill>
                <a:latin typeface="Microsoft YaHei"/>
              </a:rPr>
              <a:t>  视觉信号确实在帮大模型做对的判断。</a:t>
            </a:r>
          </a:p>
          <a:p>
            <a:pPr algn="l">
              <a:lnSpc>
                <a:spcPct val="135000"/>
              </a:lnSpc>
            </a:pPr>
            <a:r>
              <a:rPr sz="1800">
                <a:solidFill>
                  <a:srgbClr val="E87A2E"/>
                </a:solidFill>
                <a:latin typeface="Microsoft YaHei"/>
              </a:rPr>
              <a:t>● </a:t>
            </a:r>
            <a:r>
              <a:rPr sz="1800" b="1">
                <a:solidFill>
                  <a:srgbClr val="222222"/>
                </a:solidFill>
                <a:latin typeface="Microsoft YaHei"/>
              </a:rPr>
              <a:t>跨域：教学、科普、Vlog、英文都验过。</a:t>
            </a:r>
            <a:r>
              <a:rPr sz="1600">
                <a:solidFill>
                  <a:srgbClr val="666666"/>
                </a:solidFill>
                <a:latin typeface="Microsoft YaHei"/>
              </a:rPr>
              <a:t>  26 学习类 + 6 实拍类全部跑通。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Microsoft YaHei"/>
              </a:rPr>
              <a:t>网课视频笔记生成系统 · 课程结题展示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六、案例 ① · 王道操作系统 p37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01168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0">
                <a:solidFill>
                  <a:srgbClr val="FFFFFF"/>
                </a:solidFill>
                <a:latin typeface="Microsoft YaHei"/>
              </a:rPr>
              <a:t>11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  <a:latin typeface="Microsoft YaHei"/>
              </a:rPr>
              <a:t>ASR 卡片回路污染章节切分，去重后修复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222222"/>
                </a:solidFill>
                <a:latin typeface="Microsoft YaHei"/>
              </a:rPr>
              <a:t>问题 与 修复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548640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>
                <a:solidFill>
                  <a:srgbClr val="E87A2E"/>
                </a:solidFill>
                <a:latin typeface="Microsoft YaHei"/>
              </a:rPr>
              <a:t>● </a:t>
            </a:r>
            <a:r>
              <a:rPr sz="1500" b="1">
                <a:solidFill>
                  <a:srgbClr val="222222"/>
                </a:solidFill>
                <a:latin typeface="Microsoft YaHei"/>
              </a:rPr>
              <a:t>问题：「哲学家进餐」段被语音模型复读了 8 遍。</a:t>
            </a:r>
            <a:r>
              <a:rPr sz="1300">
                <a:solidFill>
                  <a:srgbClr val="666666"/>
                </a:solidFill>
                <a:latin typeface="Microsoft YaHei"/>
              </a:rPr>
              <a:t>  </a:t>
            </a:r>
          </a:p>
          <a:p>
            <a:pPr algn="l">
              <a:lnSpc>
                <a:spcPct val="135000"/>
              </a:lnSpc>
            </a:pPr>
            <a:r>
              <a:rPr sz="1500">
                <a:solidFill>
                  <a:srgbClr val="E87A2E"/>
                </a:solidFill>
                <a:latin typeface="Microsoft YaHei"/>
              </a:rPr>
              <a:t>● </a:t>
            </a:r>
            <a:r>
              <a:rPr sz="1500" b="1">
                <a:solidFill>
                  <a:srgbClr val="222222"/>
                </a:solidFill>
                <a:latin typeface="Microsoft YaHei"/>
              </a:rPr>
              <a:t>结果：原始章节切分被关键词频次干扰彻底乱掉。</a:t>
            </a:r>
            <a:r>
              <a:rPr sz="1300">
                <a:solidFill>
                  <a:srgbClr val="666666"/>
                </a:solidFill>
                <a:latin typeface="Microsoft YaHei"/>
              </a:rPr>
              <a:t>  </a:t>
            </a:r>
          </a:p>
          <a:p>
            <a:pPr algn="l">
              <a:lnSpc>
                <a:spcPct val="135000"/>
              </a:lnSpc>
            </a:pPr>
            <a:r>
              <a:rPr sz="1500">
                <a:solidFill>
                  <a:srgbClr val="E87A2E"/>
                </a:solidFill>
                <a:latin typeface="Microsoft YaHei"/>
              </a:rPr>
              <a:t>● </a:t>
            </a:r>
            <a:r>
              <a:rPr sz="1500" b="1">
                <a:solidFill>
                  <a:srgbClr val="222222"/>
                </a:solidFill>
                <a:latin typeface="Microsoft YaHei"/>
              </a:rPr>
              <a:t>方法：LCP 共同前缀检测连续重复段并合并时间戳。</a:t>
            </a:r>
            <a:r>
              <a:rPr sz="1300">
                <a:solidFill>
                  <a:srgbClr val="666666"/>
                </a:solidFill>
                <a:latin typeface="Microsoft YaHei"/>
              </a:rPr>
              <a:t>  </a:t>
            </a:r>
          </a:p>
          <a:p>
            <a:pPr algn="l">
              <a:lnSpc>
                <a:spcPct val="135000"/>
              </a:lnSpc>
            </a:pPr>
            <a:r>
              <a:rPr sz="1500">
                <a:solidFill>
                  <a:srgbClr val="E87A2E"/>
                </a:solidFill>
                <a:latin typeface="Microsoft YaHei"/>
              </a:rPr>
              <a:t>● </a:t>
            </a:r>
            <a:r>
              <a:rPr sz="1500" b="1">
                <a:solidFill>
                  <a:srgbClr val="222222"/>
                </a:solidFill>
                <a:latin typeface="Microsoft YaHei"/>
              </a:rPr>
              <a:t>效果：F1@1 从 0.50 提升到 1.00。</a:t>
            </a:r>
            <a:r>
              <a:rPr sz="1300">
                <a:solidFill>
                  <a:srgbClr val="666666"/>
                </a:solidFill>
                <a:latin typeface="Microsoft YaHei"/>
              </a:rPr>
              <a:t>  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828800"/>
            <a:ext cx="5212080" cy="42976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01_os_chap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6006" y="1828800"/>
            <a:ext cx="2861668" cy="4297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Microsoft YaHei"/>
              </a:rPr>
              <a:t>网课视频笔记生成系统 · 课程结题展示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六、案例 ② · Vlog Abstract 字面 Hallucinate 修复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01168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0">
                <a:solidFill>
                  <a:srgbClr val="FFFFFF"/>
                </a:solidFill>
                <a:latin typeface="Microsoft YaHei"/>
              </a:rPr>
              <a:t>12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  <a:latin typeface="Microsoft YaHei"/>
              </a:rPr>
              <a:t>大模型「自由发挥」写出与原视频无关的内容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222222"/>
                </a:solidFill>
                <a:latin typeface="Microsoft YaHei"/>
              </a:rPr>
              <a:t>问题 与 修复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548640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>
                <a:solidFill>
                  <a:srgbClr val="E87A2E"/>
                </a:solidFill>
                <a:latin typeface="Microsoft YaHei"/>
              </a:rPr>
              <a:t>● </a:t>
            </a:r>
            <a:r>
              <a:rPr sz="1500" b="1">
                <a:solidFill>
                  <a:srgbClr val="222222"/>
                </a:solidFill>
                <a:latin typeface="Microsoft YaHei"/>
              </a:rPr>
              <a:t>问题：BV1q6 日料探店，13/16 章 abstract 瞎编。</a:t>
            </a:r>
            <a:r>
              <a:rPr sz="1300">
                <a:solidFill>
                  <a:srgbClr val="666666"/>
                </a:solidFill>
                <a:latin typeface="Microsoft YaHei"/>
              </a:rPr>
              <a:t>  </a:t>
            </a:r>
          </a:p>
          <a:p>
            <a:pPr algn="l">
              <a:lnSpc>
                <a:spcPct val="135000"/>
              </a:lnSpc>
            </a:pPr>
            <a:r>
              <a:rPr sz="1500">
                <a:solidFill>
                  <a:srgbClr val="E87A2E"/>
                </a:solidFill>
                <a:latin typeface="Microsoft YaHei"/>
              </a:rPr>
              <a:t>● </a:t>
            </a:r>
            <a:r>
              <a:rPr sz="1500" b="1">
                <a:solidFill>
                  <a:srgbClr val="222222"/>
                </a:solidFill>
                <a:latin typeface="Microsoft YaHei"/>
              </a:rPr>
              <a:t>例：「心理线」被写成「股市心理」、「皇上」被写成「清朝」。</a:t>
            </a:r>
            <a:r>
              <a:rPr sz="1300">
                <a:solidFill>
                  <a:srgbClr val="666666"/>
                </a:solidFill>
                <a:latin typeface="Microsoft YaHei"/>
              </a:rPr>
              <a:t>  </a:t>
            </a:r>
          </a:p>
          <a:p>
            <a:pPr algn="l">
              <a:lnSpc>
                <a:spcPct val="135000"/>
              </a:lnSpc>
            </a:pPr>
            <a:r>
              <a:rPr sz="1500">
                <a:solidFill>
                  <a:srgbClr val="E87A2E"/>
                </a:solidFill>
                <a:latin typeface="Microsoft YaHei"/>
              </a:rPr>
              <a:t>● </a:t>
            </a:r>
            <a:r>
              <a:rPr sz="1500" b="1">
                <a:solidFill>
                  <a:srgbClr val="222222"/>
                </a:solidFill>
                <a:latin typeface="Microsoft YaHei"/>
              </a:rPr>
              <a:t>原因：模型只看大纲不看原话，开始自由发挥。</a:t>
            </a:r>
            <a:r>
              <a:rPr sz="1300">
                <a:solidFill>
                  <a:srgbClr val="666666"/>
                </a:solidFill>
                <a:latin typeface="Microsoft YaHei"/>
              </a:rPr>
              <a:t>  </a:t>
            </a:r>
          </a:p>
          <a:p>
            <a:pPr algn="l">
              <a:lnSpc>
                <a:spcPct val="135000"/>
              </a:lnSpc>
            </a:pPr>
            <a:r>
              <a:rPr sz="1500">
                <a:solidFill>
                  <a:srgbClr val="E87A2E"/>
                </a:solidFill>
                <a:latin typeface="Microsoft YaHei"/>
              </a:rPr>
              <a:t>● </a:t>
            </a:r>
            <a:r>
              <a:rPr sz="1500" b="1">
                <a:solidFill>
                  <a:srgbClr val="222222"/>
                </a:solidFill>
                <a:latin typeface="Microsoft YaHei"/>
              </a:rPr>
              <a:t>修复：prompt 里塞一小段原字幕作参考。</a:t>
            </a:r>
            <a:r>
              <a:rPr sz="1300">
                <a:solidFill>
                  <a:srgbClr val="666666"/>
                </a:solidFill>
                <a:latin typeface="Microsoft YaHei"/>
              </a:rPr>
              <a:t>  </a:t>
            </a:r>
          </a:p>
          <a:p>
            <a:pPr algn="l">
              <a:lnSpc>
                <a:spcPct val="135000"/>
              </a:lnSpc>
            </a:pPr>
            <a:r>
              <a:rPr sz="1500">
                <a:solidFill>
                  <a:srgbClr val="E87A2E"/>
                </a:solidFill>
                <a:latin typeface="Microsoft YaHei"/>
              </a:rPr>
              <a:t>● </a:t>
            </a:r>
            <a:r>
              <a:rPr sz="1500" b="1">
                <a:solidFill>
                  <a:srgbClr val="222222"/>
                </a:solidFill>
                <a:latin typeface="Microsoft YaHei"/>
              </a:rPr>
              <a:t>效果：3 个 Vlog 视频 21/21 章 0 hallucinate。</a:t>
            </a:r>
            <a:r>
              <a:rPr sz="1300">
                <a:solidFill>
                  <a:srgbClr val="666666"/>
                </a:solidFill>
                <a:latin typeface="Microsoft YaHei"/>
              </a:rPr>
              <a:t>  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828800"/>
            <a:ext cx="5212080" cy="42976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02_vlog_abstr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383442"/>
            <a:ext cx="5212080" cy="318839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Microsoft YaHei"/>
              </a:rPr>
              <a:t>网课视频笔记生成系统 · 课程结题展示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六、案例 ③ · Web 前端展示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01168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0">
                <a:solidFill>
                  <a:srgbClr val="FFFFFF"/>
                </a:solidFill>
                <a:latin typeface="Microsoft YaHei"/>
              </a:rPr>
              <a:t>13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  <a:latin typeface="Microsoft YaHei"/>
              </a:rPr>
              <a:t>Next.js 16 + Plyr 播放器 + 双语切换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222222"/>
                </a:solidFill>
                <a:latin typeface="Microsoft YaHei"/>
              </a:rPr>
              <a:t>前端功能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548640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>
                <a:solidFill>
                  <a:srgbClr val="E87A2E"/>
                </a:solidFill>
                <a:latin typeface="Microsoft YaHei"/>
              </a:rPr>
              <a:t>● </a:t>
            </a:r>
            <a:r>
              <a:rPr sz="1500" b="1">
                <a:solidFill>
                  <a:srgbClr val="222222"/>
                </a:solidFill>
                <a:latin typeface="Microsoft YaHei"/>
              </a:rPr>
              <a:t>Plyr 视频播放器嵌入 + 章节按钮直接跳转。</a:t>
            </a:r>
            <a:r>
              <a:rPr sz="1300">
                <a:solidFill>
                  <a:srgbClr val="666666"/>
                </a:solidFill>
                <a:latin typeface="Microsoft YaHei"/>
              </a:rPr>
              <a:t>  </a:t>
            </a:r>
          </a:p>
          <a:p>
            <a:pPr algn="l">
              <a:lnSpc>
                <a:spcPct val="135000"/>
              </a:lnSpc>
            </a:pPr>
            <a:r>
              <a:rPr sz="1500">
                <a:solidFill>
                  <a:srgbClr val="E87A2E"/>
                </a:solidFill>
                <a:latin typeface="Microsoft YaHei"/>
              </a:rPr>
              <a:t>● </a:t>
            </a:r>
            <a:r>
              <a:rPr sz="1500" b="1">
                <a:solidFill>
                  <a:srgbClr val="222222"/>
                </a:solidFill>
                <a:latin typeface="Microsoft YaHei"/>
              </a:rPr>
              <a:t>章节卡片显示当前播放进度条与关键词标签。</a:t>
            </a:r>
            <a:r>
              <a:rPr sz="1300">
                <a:solidFill>
                  <a:srgbClr val="666666"/>
                </a:solidFill>
                <a:latin typeface="Microsoft YaHei"/>
              </a:rPr>
              <a:t>  </a:t>
            </a:r>
          </a:p>
          <a:p>
            <a:pPr algn="l">
              <a:lnSpc>
                <a:spcPct val="135000"/>
              </a:lnSpc>
            </a:pPr>
            <a:r>
              <a:rPr sz="1500">
                <a:solidFill>
                  <a:srgbClr val="E87A2E"/>
                </a:solidFill>
                <a:latin typeface="Microsoft YaHei"/>
              </a:rPr>
              <a:t>● </a:t>
            </a:r>
            <a:r>
              <a:rPr sz="1500" b="1">
                <a:solidFill>
                  <a:srgbClr val="222222"/>
                </a:solidFill>
                <a:latin typeface="Microsoft YaHei"/>
              </a:rPr>
              <a:t>Apple 风格深色 UI + 流动粒子背景。</a:t>
            </a:r>
            <a:r>
              <a:rPr sz="1300">
                <a:solidFill>
                  <a:srgbClr val="666666"/>
                </a:solidFill>
                <a:latin typeface="Microsoft YaHei"/>
              </a:rPr>
              <a:t>  </a:t>
            </a:r>
          </a:p>
          <a:p>
            <a:pPr algn="l">
              <a:lnSpc>
                <a:spcPct val="135000"/>
              </a:lnSpc>
            </a:pPr>
            <a:r>
              <a:rPr sz="1500">
                <a:solidFill>
                  <a:srgbClr val="E87A2E"/>
                </a:solidFill>
                <a:latin typeface="Microsoft YaHei"/>
              </a:rPr>
              <a:t>● </a:t>
            </a:r>
            <a:r>
              <a:rPr sz="1500" b="1">
                <a:solidFill>
                  <a:srgbClr val="222222"/>
                </a:solidFill>
                <a:latin typeface="Microsoft YaHei"/>
              </a:rPr>
              <a:t>章节摘要、知识点、术语表三栏可滚动浏览。</a:t>
            </a:r>
            <a:r>
              <a:rPr sz="1300">
                <a:solidFill>
                  <a:srgbClr val="666666"/>
                </a:solidFill>
                <a:latin typeface="Microsoft YaHei"/>
              </a:rPr>
              <a:t>  </a:t>
            </a:r>
          </a:p>
          <a:p>
            <a:pPr algn="l">
              <a:lnSpc>
                <a:spcPct val="135000"/>
              </a:lnSpc>
            </a:pPr>
            <a:r>
              <a:rPr sz="1500">
                <a:solidFill>
                  <a:srgbClr val="E87A2E"/>
                </a:solidFill>
                <a:latin typeface="Microsoft YaHei"/>
              </a:rPr>
              <a:t>● </a:t>
            </a:r>
            <a:r>
              <a:rPr sz="1500" b="1">
                <a:solidFill>
                  <a:srgbClr val="222222"/>
                </a:solidFill>
                <a:latin typeface="Microsoft YaHei"/>
              </a:rPr>
              <a:t>整套前端 SSG 静态化，加载快、可离线。</a:t>
            </a:r>
            <a:r>
              <a:rPr sz="1300">
                <a:solidFill>
                  <a:srgbClr val="666666"/>
                </a:solidFill>
                <a:latin typeface="Microsoft YaHei"/>
              </a:rPr>
              <a:t>  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828800"/>
            <a:ext cx="5212080" cy="42976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03_web_over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211" y="1828800"/>
            <a:ext cx="3535257" cy="4297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Microsoft YaHei"/>
              </a:rPr>
              <a:t>网课视频笔记生成系统 · 课程结题展示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七、结论 与 未来工作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01168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0">
                <a:solidFill>
                  <a:srgbClr val="FFFFFF"/>
                </a:solidFill>
                <a:latin typeface="Microsoft YaHei"/>
              </a:rPr>
              <a:t>14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  <a:latin typeface="Microsoft YaHei"/>
              </a:rPr>
              <a:t>完成端到端系统 + 跨域 benchmark + 算法/工程双重创新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E87A2E"/>
                </a:solidFill>
                <a:latin typeface="Microsoft YaHei"/>
              </a:rPr>
              <a:t>已完成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548640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dirty="0">
                <a:solidFill>
                  <a:srgbClr val="E87A2E"/>
                </a:solidFill>
                <a:latin typeface="Microsoft YaHei"/>
              </a:rPr>
              <a:t>● </a:t>
            </a:r>
            <a:r>
              <a:rPr sz="1500" dirty="0">
                <a:solidFill>
                  <a:srgbClr val="222222"/>
                </a:solidFill>
                <a:latin typeface="Microsoft YaHei"/>
              </a:rPr>
              <a:t>32 </a:t>
            </a:r>
            <a:r>
              <a:rPr sz="1500" dirty="0" err="1">
                <a:solidFill>
                  <a:srgbClr val="222222"/>
                </a:solidFill>
                <a:latin typeface="Microsoft YaHei"/>
              </a:rPr>
              <a:t>视频跨域</a:t>
            </a:r>
            <a:r>
              <a:rPr sz="1500" dirty="0">
                <a:solidFill>
                  <a:srgbClr val="222222"/>
                </a:solidFill>
                <a:latin typeface="Microsoft YaHei"/>
              </a:rPr>
              <a:t> benchmark </a:t>
            </a:r>
            <a:r>
              <a:rPr sz="1500" dirty="0" err="1">
                <a:solidFill>
                  <a:srgbClr val="222222"/>
                </a:solidFill>
                <a:latin typeface="Microsoft YaHei"/>
              </a:rPr>
              <a:t>手工标注</a:t>
            </a:r>
            <a:endParaRPr sz="1500" dirty="0">
              <a:solidFill>
                <a:srgbClr val="222222"/>
              </a:solidFill>
              <a:latin typeface="Microsoft YaHei"/>
            </a:endParaRPr>
          </a:p>
          <a:p>
            <a:pPr algn="l">
              <a:lnSpc>
                <a:spcPct val="135000"/>
              </a:lnSpc>
            </a:pPr>
            <a:r>
              <a:rPr sz="1500" dirty="0">
                <a:solidFill>
                  <a:srgbClr val="E87A2E"/>
                </a:solidFill>
                <a:latin typeface="Microsoft YaHei"/>
              </a:rPr>
              <a:t>● </a:t>
            </a:r>
            <a:r>
              <a:rPr sz="1500" dirty="0">
                <a:solidFill>
                  <a:srgbClr val="222222"/>
                </a:solidFill>
                <a:latin typeface="Microsoft YaHei"/>
              </a:rPr>
              <a:t>LLM </a:t>
            </a:r>
            <a:r>
              <a:rPr sz="1500" dirty="0" err="1">
                <a:solidFill>
                  <a:srgbClr val="222222"/>
                </a:solidFill>
                <a:latin typeface="Microsoft YaHei"/>
              </a:rPr>
              <a:t>章节切分</a:t>
            </a:r>
            <a:r>
              <a:rPr sz="1500" dirty="0">
                <a:solidFill>
                  <a:srgbClr val="222222"/>
                </a:solidFill>
                <a:latin typeface="Microsoft YaHei"/>
              </a:rPr>
              <a:t> 100% </a:t>
            </a:r>
            <a:r>
              <a:rPr sz="1500" dirty="0" err="1">
                <a:solidFill>
                  <a:srgbClr val="222222"/>
                </a:solidFill>
                <a:latin typeface="Microsoft YaHei"/>
              </a:rPr>
              <a:t>覆盖率</a:t>
            </a:r>
            <a:endParaRPr sz="1500" dirty="0">
              <a:solidFill>
                <a:srgbClr val="222222"/>
              </a:solidFill>
              <a:latin typeface="Microsoft YaHei"/>
            </a:endParaRPr>
          </a:p>
          <a:p>
            <a:pPr algn="l">
              <a:lnSpc>
                <a:spcPct val="135000"/>
              </a:lnSpc>
            </a:pPr>
            <a:r>
              <a:rPr sz="1500" dirty="0">
                <a:solidFill>
                  <a:srgbClr val="E87A2E"/>
                </a:solidFill>
                <a:latin typeface="Microsoft YaHei"/>
              </a:rPr>
              <a:t>● </a:t>
            </a:r>
            <a:r>
              <a:rPr sz="1500" dirty="0" err="1">
                <a:solidFill>
                  <a:srgbClr val="222222"/>
                </a:solidFill>
                <a:latin typeface="Microsoft YaHei"/>
              </a:rPr>
              <a:t>学习场景</a:t>
            </a:r>
            <a:r>
              <a:rPr sz="1500" dirty="0">
                <a:solidFill>
                  <a:srgbClr val="222222"/>
                </a:solidFill>
                <a:latin typeface="Microsoft YaHei"/>
              </a:rPr>
              <a:t> 5 </a:t>
            </a:r>
            <a:r>
              <a:rPr sz="1500" dirty="0" err="1">
                <a:solidFill>
                  <a:srgbClr val="222222"/>
                </a:solidFill>
                <a:latin typeface="Microsoft YaHei"/>
              </a:rPr>
              <a:t>件套</a:t>
            </a:r>
            <a:r>
              <a:rPr sz="1500" dirty="0">
                <a:solidFill>
                  <a:srgbClr val="222222"/>
                </a:solidFill>
                <a:latin typeface="Microsoft YaHei"/>
              </a:rPr>
              <a:t> md </a:t>
            </a:r>
            <a:r>
              <a:rPr sz="1500" dirty="0" err="1">
                <a:solidFill>
                  <a:srgbClr val="222222"/>
                </a:solidFill>
                <a:latin typeface="Microsoft YaHei"/>
              </a:rPr>
              <a:t>模板</a:t>
            </a:r>
            <a:endParaRPr sz="1500" dirty="0">
              <a:solidFill>
                <a:srgbClr val="222222"/>
              </a:solidFill>
              <a:latin typeface="Microsoft YaHei"/>
            </a:endParaRPr>
          </a:p>
          <a:p>
            <a:pPr algn="l">
              <a:lnSpc>
                <a:spcPct val="135000"/>
              </a:lnSpc>
            </a:pPr>
            <a:r>
              <a:rPr sz="1500" dirty="0">
                <a:solidFill>
                  <a:srgbClr val="E87A2E"/>
                </a:solidFill>
                <a:latin typeface="Microsoft YaHei"/>
              </a:rPr>
              <a:t>● </a:t>
            </a:r>
            <a:r>
              <a:rPr sz="1500" dirty="0">
                <a:solidFill>
                  <a:srgbClr val="222222"/>
                </a:solidFill>
                <a:latin typeface="Microsoft YaHei"/>
              </a:rPr>
              <a:t>4 </a:t>
            </a:r>
            <a:r>
              <a:rPr sz="1500" dirty="0" err="1">
                <a:solidFill>
                  <a:srgbClr val="222222"/>
                </a:solidFill>
                <a:latin typeface="Microsoft YaHei"/>
              </a:rPr>
              <a:t>类启发式分类</a:t>
            </a:r>
            <a:r>
              <a:rPr sz="1500" dirty="0">
                <a:solidFill>
                  <a:srgbClr val="222222"/>
                </a:solidFill>
                <a:latin typeface="Microsoft YaHei"/>
              </a:rPr>
              <a:t> 24/24 准</a:t>
            </a:r>
          </a:p>
          <a:p>
            <a:pPr algn="l">
              <a:lnSpc>
                <a:spcPct val="135000"/>
              </a:lnSpc>
            </a:pPr>
            <a:r>
              <a:rPr sz="1500" dirty="0">
                <a:solidFill>
                  <a:srgbClr val="E87A2E"/>
                </a:solidFill>
                <a:latin typeface="Microsoft YaHei"/>
              </a:rPr>
              <a:t>● </a:t>
            </a:r>
            <a:r>
              <a:rPr sz="1500" dirty="0" err="1">
                <a:solidFill>
                  <a:srgbClr val="222222"/>
                </a:solidFill>
                <a:latin typeface="Microsoft YaHei"/>
              </a:rPr>
              <a:t>中英双语支持</a:t>
            </a:r>
            <a:endParaRPr sz="1500" dirty="0">
              <a:solidFill>
                <a:srgbClr val="222222"/>
              </a:solidFill>
              <a:latin typeface="Microsoft YaHei"/>
            </a:endParaRPr>
          </a:p>
          <a:p>
            <a:pPr algn="l">
              <a:lnSpc>
                <a:spcPct val="135000"/>
              </a:lnSpc>
            </a:pPr>
            <a:r>
              <a:rPr sz="1500" dirty="0">
                <a:solidFill>
                  <a:srgbClr val="E87A2E"/>
                </a:solidFill>
                <a:latin typeface="Microsoft YaHei"/>
              </a:rPr>
              <a:t>● </a:t>
            </a:r>
            <a:r>
              <a:rPr sz="1500" dirty="0">
                <a:solidFill>
                  <a:srgbClr val="222222"/>
                </a:solidFill>
                <a:latin typeface="Microsoft YaHei"/>
              </a:rPr>
              <a:t>Next.js 16 web </a:t>
            </a:r>
            <a:r>
              <a:rPr sz="1500" dirty="0" err="1">
                <a:solidFill>
                  <a:srgbClr val="222222"/>
                </a:solidFill>
                <a:latin typeface="Microsoft YaHei"/>
              </a:rPr>
              <a:t>前端</a:t>
            </a:r>
            <a:r>
              <a:rPr sz="1500" dirty="0">
                <a:solidFill>
                  <a:srgbClr val="222222"/>
                </a:solidFill>
                <a:latin typeface="Microsoft YaHei"/>
              </a:rPr>
              <a:t> + 5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  <a:latin typeface="Microsoft YaHei"/>
              </a:rPr>
              <a:t>局限 与 未来工作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286000"/>
            <a:ext cx="548640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>
                <a:solidFill>
                  <a:srgbClr val="E87A2E"/>
                </a:solidFill>
                <a:latin typeface="Microsoft YaHei"/>
              </a:rPr>
              <a:t>● </a:t>
            </a:r>
            <a:r>
              <a:rPr sz="1500">
                <a:solidFill>
                  <a:srgbClr val="222222"/>
                </a:solidFill>
                <a:latin typeface="Microsoft YaHei"/>
              </a:rPr>
              <a:t>小模型在 30+ chunks 极长视频上偶发失效</a:t>
            </a:r>
          </a:p>
          <a:p>
            <a:pPr algn="l">
              <a:lnSpc>
                <a:spcPct val="135000"/>
              </a:lnSpc>
            </a:pPr>
            <a:r>
              <a:rPr sz="1500">
                <a:solidFill>
                  <a:srgbClr val="E87A2E"/>
                </a:solidFill>
                <a:latin typeface="Microsoft YaHei"/>
              </a:rPr>
              <a:t>● </a:t>
            </a:r>
            <a:r>
              <a:rPr sz="1500">
                <a:solidFill>
                  <a:srgbClr val="222222"/>
                </a:solidFill>
                <a:latin typeface="Microsoft YaHei"/>
              </a:rPr>
              <a:t>PPT slide cue 跨视频校准困难</a:t>
            </a:r>
          </a:p>
          <a:p>
            <a:pPr algn="l">
              <a:lnSpc>
                <a:spcPct val="135000"/>
              </a:lnSpc>
            </a:pPr>
            <a:r>
              <a:rPr sz="1500">
                <a:solidFill>
                  <a:srgbClr val="E87A2E"/>
                </a:solidFill>
                <a:latin typeface="Microsoft YaHei"/>
              </a:rPr>
              <a:t>● </a:t>
            </a:r>
            <a:r>
              <a:rPr sz="1500">
                <a:solidFill>
                  <a:srgbClr val="222222"/>
                </a:solidFill>
                <a:latin typeface="Microsoft YaHei"/>
              </a:rPr>
              <a:t>扩 talk 类视频（讲座、播客）</a:t>
            </a:r>
          </a:p>
          <a:p>
            <a:pPr algn="l">
              <a:lnSpc>
                <a:spcPct val="135000"/>
              </a:lnSpc>
            </a:pPr>
            <a:r>
              <a:rPr sz="1500">
                <a:solidFill>
                  <a:srgbClr val="E87A2E"/>
                </a:solidFill>
                <a:latin typeface="Microsoft YaHei"/>
              </a:rPr>
              <a:t>● </a:t>
            </a:r>
            <a:r>
              <a:rPr sz="1500">
                <a:solidFill>
                  <a:srgbClr val="222222"/>
                </a:solidFill>
                <a:latin typeface="Microsoft YaHei"/>
              </a:rPr>
              <a:t>研究更小更快的章节切分模型</a:t>
            </a:r>
          </a:p>
          <a:p>
            <a:pPr algn="l">
              <a:lnSpc>
                <a:spcPct val="135000"/>
              </a:lnSpc>
            </a:pPr>
            <a:r>
              <a:rPr sz="1500">
                <a:solidFill>
                  <a:srgbClr val="E87A2E"/>
                </a:solidFill>
                <a:latin typeface="Microsoft YaHei"/>
              </a:rPr>
              <a:t>● </a:t>
            </a:r>
            <a:r>
              <a:rPr sz="1500">
                <a:solidFill>
                  <a:srgbClr val="222222"/>
                </a:solidFill>
                <a:latin typeface="Microsoft YaHei"/>
              </a:rPr>
              <a:t>用户主观打分的大规模评估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6291072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感谢聆听 · 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1035</Words>
  <Application>Microsoft Office PowerPoint</Application>
  <PresentationFormat>宽屏</PresentationFormat>
  <Paragraphs>181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0" baseType="lpstr">
      <vt:lpstr>微软雅黑</vt:lpstr>
      <vt:lpstr>微软雅黑</vt:lpstr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a7918@365mmt.com</cp:lastModifiedBy>
  <cp:revision>2</cp:revision>
  <dcterms:created xsi:type="dcterms:W3CDTF">2013-01-27T09:14:16Z</dcterms:created>
  <dcterms:modified xsi:type="dcterms:W3CDTF">2026-05-27T02:43:41Z</dcterms:modified>
  <cp:category/>
</cp:coreProperties>
</file>